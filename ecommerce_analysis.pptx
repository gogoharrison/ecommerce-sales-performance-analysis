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0" d="100"/>
          <a:sy n="90" d="100"/>
        </p:scale>
        <p:origin x="6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1857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3" name="Shape 1"/>
          <p:cNvSpPr/>
          <p:nvPr/>
        </p:nvSpPr>
        <p:spPr>
          <a:xfrm>
            <a:off x="6583680" y="3657600"/>
            <a:ext cx="2560320" cy="1485900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2926080"/>
            <a:ext cx="1645920" cy="77724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914400"/>
            <a:ext cx="64008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Sales</a:t>
            </a:r>
            <a:endParaRPr lang="en-US" sz="38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Analysis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02920" y="2651760"/>
            <a:ext cx="6400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Data Analysis of Kaggle E-Commerce Dataset</a:t>
            </a:r>
            <a:endParaRPr lang="en-US" sz="15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2010 – Dec 2011  |  541,909 Transactions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02920" y="44805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Happy </a:t>
            </a:r>
            <a:r>
              <a:rPr lang="en-US" sz="1100" i="1" dirty="0" err="1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Anywuli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&amp; Objectives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393192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868680"/>
            <a:ext cx="64008" cy="3977640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6" name="Text 4"/>
          <p:cNvSpPr/>
          <p:nvPr/>
        </p:nvSpPr>
        <p:spPr>
          <a:xfrm>
            <a:off x="502920" y="960120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1417320"/>
            <a:ext cx="35661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online retailer requires executive-level insight into:
• Sales trajectory and seasonality
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customers generate the most value
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Product performance and portfolio health
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 retention and churn risk
</a:t>
            </a:r>
            <a:endParaRPr lang="en-US" sz="12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analysis covers 397,884 valid transactions across 37 countries, 4,338 customers and 3,665 SKUs.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434840" y="868680"/>
            <a:ext cx="4389120" cy="397764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434840" y="868680"/>
            <a:ext cx="64008" cy="397764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0" name="Text 8"/>
          <p:cNvSpPr/>
          <p:nvPr/>
        </p:nvSpPr>
        <p:spPr>
          <a:xfrm>
            <a:off x="4617720" y="960120"/>
            <a:ext cx="4023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Objectives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17720" y="1417320"/>
            <a:ext cx="347472" cy="347472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141732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74920" y="141732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Revenue Patterns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074920" y="16733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trends, seasonality, and geographic concentration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17720" y="2240280"/>
            <a:ext cx="347472" cy="347472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6" name="Text 14"/>
          <p:cNvSpPr/>
          <p:nvPr/>
        </p:nvSpPr>
        <p:spPr>
          <a:xfrm>
            <a:off x="4617720" y="224028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24028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Customer Behaviour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074920" y="24963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 customers by value; measure retention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617720" y="3063240"/>
            <a:ext cx="347472" cy="347472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0" name="Text 18"/>
          <p:cNvSpPr/>
          <p:nvPr/>
        </p:nvSpPr>
        <p:spPr>
          <a:xfrm>
            <a:off x="4617720" y="306324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074920" y="306324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Product Portfolio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074920" y="331927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top performers and underperforming SKUs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17720" y="3886200"/>
            <a:ext cx="347472" cy="347472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24" name="Text 22"/>
          <p:cNvSpPr/>
          <p:nvPr/>
        </p:nvSpPr>
        <p:spPr>
          <a:xfrm>
            <a:off x="4617720" y="38862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074920" y="3886200"/>
            <a:ext cx="3566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 Actionable Insight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074920" y="414223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findings into concrete business strategies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Dataset Overview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606040" cy="1600200"/>
          </a:xfrm>
          <a:prstGeom prst="rect">
            <a:avLst/>
          </a:prstGeom>
          <a:solidFill>
            <a:srgbClr val="1B3A6B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118872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541,909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20040" y="19202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Transactions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154680" y="914400"/>
            <a:ext cx="2606040" cy="1600200"/>
          </a:xfrm>
          <a:prstGeom prst="rect">
            <a:avLst/>
          </a:prstGeom>
          <a:solidFill>
            <a:srgbClr val="1B3A6B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154680" y="118872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397,884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154680" y="19202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 Transactions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89320" y="914400"/>
            <a:ext cx="2606040" cy="1600200"/>
          </a:xfrm>
          <a:prstGeom prst="rect">
            <a:avLst/>
          </a:prstGeom>
          <a:solidFill>
            <a:srgbClr val="1B3A6B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89320" y="118872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4,338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989320" y="192024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Customers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834640"/>
            <a:ext cx="2606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20040" y="310896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3,665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20040" y="384048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SKUs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154680" y="2834640"/>
            <a:ext cx="2606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154680" y="310896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3154680" y="384048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Served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2834640"/>
            <a:ext cx="2606040" cy="16002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989320" y="3108960"/>
            <a:ext cx="2606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1B3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£8.9M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5989320" y="3840480"/>
            <a:ext cx="2606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Revenue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20040" y="4663440"/>
            <a:ext cx="8503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64748B"/>
                </a:solidFill>
              </a:rPr>
              <a:t>Data Quality Notes: 135K rows removed (missing CustomerID) · Cancellations excluded · Zero/negative values filtered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Revenue Trend &amp; Order Volume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303520" cy="219456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971800"/>
            <a:ext cx="5303520" cy="192024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760720" y="777240"/>
            <a:ext cx="31089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760720" y="777240"/>
            <a:ext cx="64008" cy="4114800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8" name="Text 4"/>
          <p:cNvSpPr/>
          <p:nvPr/>
        </p:nvSpPr>
        <p:spPr>
          <a:xfrm>
            <a:off x="5943600" y="868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</a:rPr>
              <a:t>Key Insights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943600" y="1325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📈 Revenue grew consistently from Dec 2010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🎄 November 2011 was the peak month — Christmas demand surge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📦 Order volume tracks revenue closely, confirming volume-driven growth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⚠️  December 2011 data is partial (dataset ends 9 Dec)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💡 Q4 is critical — invest in inventory &amp; marketing by September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Geographic Revenue Performance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029200" cy="21031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926080"/>
            <a:ext cx="5029200" cy="201168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0" y="777240"/>
            <a:ext cx="3383280" cy="41605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486400" y="777240"/>
            <a:ext cx="64008" cy="416052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0" y="8686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</a:rPr>
              <a:t>Key Insights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669280" y="1325880"/>
            <a:ext cx="30175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🇬🇧 UK = 83% of revenue — significant concentration risk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🇳🇱 Netherlands is the #2 market internationally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🇩🇪🇫🇷 Germany and France growing steadily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🌍 Top 5 intl. markets represent a £1.5M+ expansion opportunity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💡 Build localised experiences and EU fulfilment hubs to scale internationally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Customer Behaviour Analysis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303520" cy="192024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2788920"/>
            <a:ext cx="5303520" cy="2103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760720" y="777240"/>
            <a:ext cx="31089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760720" y="777240"/>
            <a:ext cx="64008" cy="411480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8" name="Text 4"/>
          <p:cNvSpPr/>
          <p:nvPr/>
        </p:nvSpPr>
        <p:spPr>
          <a:xfrm>
            <a:off x="5943600" y="8686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</a:rPr>
              <a:t>Key Insights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943600" y="1325880"/>
            <a:ext cx="274320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💰 Overall AOV: £369 (mean); £230 (median)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📅 AOV spikes in Q4 — customers buy more per order for gifting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🔁 ~65% of customers are repeat buyers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👤 Median customer places 2 orders; max is 209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💡 Post-purchase nurture sequences can convert one-time buyers to repeat buyers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RFM Customer Segmentation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8595360" cy="28346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74320" y="3749040"/>
            <a:ext cx="2011680" cy="1188720"/>
          </a:xfrm>
          <a:prstGeom prst="rect">
            <a:avLst/>
          </a:prstGeom>
          <a:solidFill>
            <a:srgbClr val="E8622A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274320" y="37764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Champions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74320" y="4050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934 customers</a:t>
            </a:r>
            <a:endParaRPr lang="en-US" sz="9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£6.3M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74320" y="44622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E2E8F0"/>
                </a:solidFill>
              </a:rPr>
              <a:t>VIP loyalty tier, personal outreach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450592" y="3749040"/>
            <a:ext cx="2011680" cy="1188720"/>
          </a:xfrm>
          <a:prstGeom prst="rect">
            <a:avLst/>
          </a:prstGeom>
          <a:solidFill>
            <a:srgbClr val="1B3A6B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450592" y="37764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Loyal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450592" y="4050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1,008 customers</a:t>
            </a:r>
            <a:endParaRPr lang="en-US" sz="9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£1.4M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2450592" y="44622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E2E8F0"/>
                </a:solidFill>
              </a:rPr>
              <a:t>Rewards programme, early access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626864" y="3749040"/>
            <a:ext cx="2011680" cy="1188720"/>
          </a:xfrm>
          <a:prstGeom prst="rect">
            <a:avLst/>
          </a:prstGeom>
          <a:solidFill>
            <a:srgbClr val="D97706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4626864" y="37764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At Risk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4626864" y="4050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800 customers</a:t>
            </a:r>
            <a:endParaRPr lang="en-US" sz="9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£430K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4626864" y="44622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E2E8F0"/>
                </a:solidFill>
              </a:rPr>
              <a:t>Win-back campaign, discount trigger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803136" y="3749040"/>
            <a:ext cx="2011680" cy="1188720"/>
          </a:xfrm>
          <a:prstGeom prst="rect">
            <a:avLst/>
          </a:prstGeom>
          <a:solidFill>
            <a:srgbClr val="64748B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803136" y="3776472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Lost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803136" y="4050792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883 customers</a:t>
            </a:r>
            <a:endParaRPr lang="en-US" sz="95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950" dirty="0">
                <a:solidFill>
                  <a:srgbClr val="FFFFFF"/>
                </a:solidFill>
              </a:rPr>
              <a:t>£203K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6803136" y="4462272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E2E8F0"/>
                </a:solidFill>
              </a:rPr>
              <a:t>Re-engagement or remove from list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Cohort Retention Analysis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5943600" cy="40233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0" y="777240"/>
            <a:ext cx="2514600" cy="40233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0" y="777240"/>
            <a:ext cx="64008" cy="4023360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7" name="Text 4"/>
          <p:cNvSpPr/>
          <p:nvPr/>
        </p:nvSpPr>
        <p:spPr>
          <a:xfrm>
            <a:off x="6583680" y="8686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3A6B"/>
                </a:solidFill>
              </a:rPr>
              <a:t>Key Insights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583680" y="1325880"/>
            <a:ext cx="219456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• Month-1 retention averages ~20-25%</a:t>
            </a:r>
            <a:endParaRPr lang="en-US" sz="9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• Dec 2010 cohort shows strongest long-term retention</a:t>
            </a:r>
            <a:endParaRPr lang="en-US" sz="9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• Retention drops sharply after month 1</a:t>
            </a:r>
            <a:endParaRPr lang="en-US" sz="9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• Holiday-acquired customers retain better</a:t>
            </a:r>
            <a:endParaRPr lang="en-US" sz="950" dirty="0"/>
          </a:p>
          <a:p>
            <a:pPr marL="0" indent="0">
              <a:lnSpc>
                <a:spcPct val="145000"/>
              </a:lnSpc>
              <a:buNone/>
            </a:pPr>
            <a:r>
              <a:rPr lang="en-US" sz="950" dirty="0">
                <a:solidFill>
                  <a:srgbClr val="0F172A"/>
                </a:solidFill>
              </a:rPr>
              <a:t>• 💡 Focus onboarding on first 30 days post-purchase — this is the critical retention window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Product Performance Insights</a:t>
            </a:r>
            <a:endParaRPr lang="en-US" sz="20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777240"/>
            <a:ext cx="4846320" cy="233172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200400"/>
            <a:ext cx="4846320" cy="1828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303520" y="777240"/>
            <a:ext cx="3566160" cy="42519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5303520" y="777240"/>
            <a:ext cx="64008" cy="4251960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8" name="Text 4"/>
          <p:cNvSpPr/>
          <p:nvPr/>
        </p:nvSpPr>
        <p:spPr>
          <a:xfrm>
            <a:off x="5486400" y="8686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A6B"/>
                </a:solidFill>
              </a:rPr>
              <a:t>Key Insights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5486400" y="1325880"/>
            <a:ext cx="32004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🏆 Top 10 products generate disproportionate revenue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🕯️ Decorative / gift items dominate top sellers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⚠️  Many SKUs have &lt;£2 avg revenue per transaction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📦 Bundling low-value items can boost basket size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💡 Apply 80/20 rule: focus marketing budget on top 20% of SKUs</a:t>
            </a:r>
            <a:endParaRPr lang="en-US" sz="105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050" dirty="0">
                <a:solidFill>
                  <a:srgbClr val="0F172A"/>
                </a:solidFill>
              </a:rPr>
              <a:t>🗑️ Consider discontinuing or repricing the bottom 50 SKUs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64008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Strategic Recommendations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2743200" cy="384048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8686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🏆  Protect Champions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84048" y="1280160"/>
            <a:ext cx="252374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VIP tier with early access, free delivery &amp; dedicated account support for top 100 CLV customers.</a:t>
            </a:r>
            <a:endParaRPr lang="en-US" sz="980" dirty="0"/>
          </a:p>
        </p:txBody>
      </p:sp>
      <p:sp>
        <p:nvSpPr>
          <p:cNvPr id="8" name="Shape 6"/>
          <p:cNvSpPr/>
          <p:nvPr/>
        </p:nvSpPr>
        <p:spPr>
          <a:xfrm>
            <a:off x="3227832" y="82296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27832" y="822960"/>
            <a:ext cx="2743200" cy="38404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0" name="Text 8"/>
          <p:cNvSpPr/>
          <p:nvPr/>
        </p:nvSpPr>
        <p:spPr>
          <a:xfrm>
            <a:off x="3319272" y="8686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 Win Back At-Risk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37560" y="1280160"/>
            <a:ext cx="252374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3-step email win-back sequence with escalating discount. Target 800 at-risk customers (£430K revenue at stake).</a:t>
            </a:r>
            <a:endParaRPr lang="en-US" sz="980" dirty="0"/>
          </a:p>
        </p:txBody>
      </p:sp>
      <p:sp>
        <p:nvSpPr>
          <p:cNvPr id="12" name="Shape 10"/>
          <p:cNvSpPr/>
          <p:nvPr/>
        </p:nvSpPr>
        <p:spPr>
          <a:xfrm>
            <a:off x="6181344" y="82296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81344" y="822960"/>
            <a:ext cx="2743200" cy="38404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14" name="Text 12"/>
          <p:cNvSpPr/>
          <p:nvPr/>
        </p:nvSpPr>
        <p:spPr>
          <a:xfrm>
            <a:off x="6272784" y="8686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Expand Internationally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91072" y="1280160"/>
            <a:ext cx="252374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localised landing pages &amp; EU fulfilment hub for NL, DE, FR. Reduce geographic revenue concentration from 83%.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274320" y="288036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2880360"/>
            <a:ext cx="2743200" cy="384048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🎄  Maximise Q4 Seasonality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84048" y="3337560"/>
            <a:ext cx="252374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Pre-stock top SKUs by September. Launch Q4 campaigns by late Sep. Create gift bundles at £25/£50/£75 price points.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3227832" y="288036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27832" y="2880360"/>
            <a:ext cx="2743200" cy="384048"/>
          </a:xfrm>
          <a:prstGeom prst="rect">
            <a:avLst/>
          </a:prstGeom>
          <a:solidFill>
            <a:srgbClr val="D97706"/>
          </a:solidFill>
          <a:ln/>
        </p:spPr>
      </p:sp>
      <p:sp>
        <p:nvSpPr>
          <p:cNvPr id="22" name="Text 20"/>
          <p:cNvSpPr/>
          <p:nvPr/>
        </p:nvSpPr>
        <p:spPr>
          <a:xfrm>
            <a:off x="3319272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📧  Nurture One-Time Buyers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37560" y="3337560"/>
            <a:ext cx="252374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post-purchase email flow at 14, 30, 60 days. Offer 10% off second order. Convert ~35% one-time buyers.</a:t>
            </a:r>
            <a:endParaRPr lang="en-US" sz="980" dirty="0"/>
          </a:p>
        </p:txBody>
      </p:sp>
      <p:sp>
        <p:nvSpPr>
          <p:cNvPr id="24" name="Shape 22"/>
          <p:cNvSpPr/>
          <p:nvPr/>
        </p:nvSpPr>
        <p:spPr>
          <a:xfrm>
            <a:off x="6181344" y="2880360"/>
            <a:ext cx="274320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162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81344" y="2880360"/>
            <a:ext cx="2743200" cy="38404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/>
          <p:nvPr/>
        </p:nvSpPr>
        <p:spPr>
          <a:xfrm>
            <a:off x="6272784" y="292608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Optimise Campaign Timing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91072" y="3337560"/>
            <a:ext cx="2523744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8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email &amp; paid ads on Tuesdays and Thursdays (peak revenue days). Run weekend flash sales to lift Saturday revenue.</a:t>
            </a:r>
            <a:endParaRPr lang="en-US" sz="9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3840480"/>
            <a:ext cx="2286000" cy="1303020"/>
          </a:xfrm>
          <a:prstGeom prst="rect">
            <a:avLst/>
          </a:prstGeom>
          <a:solidFill>
            <a:srgbClr val="E8622A"/>
          </a:solidFill>
          <a:ln/>
        </p:spPr>
      </p:sp>
      <p:sp>
        <p:nvSpPr>
          <p:cNvPr id="4" name="Shape 2"/>
          <p:cNvSpPr/>
          <p:nvPr/>
        </p:nvSpPr>
        <p:spPr>
          <a:xfrm>
            <a:off x="7498080" y="3200400"/>
            <a:ext cx="1645920" cy="685800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6400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685800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Revenue grew 60%+ over the analysis period with clear Q4 seasonal peaks</a:t>
            </a:r>
            <a:endParaRPr lang="en-US" sz="13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Champions (934 customers) generate 70% of revenue — protection is paramount</a:t>
            </a:r>
            <a:endParaRPr lang="en-US" sz="13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Month-1 retention of ~20-25% represents the single largest growth lever</a:t>
            </a:r>
            <a:endParaRPr lang="en-US" sz="13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Geographic concentration in UK (83%) poses strategic risk — international expansion warranted</a:t>
            </a:r>
            <a:endParaRPr lang="en-US" sz="1300" dirty="0"/>
          </a:p>
          <a:p>
            <a:pPr marL="0" indent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Product portfolio can be optimised: reinvest in top 20% SKUs, rationalise the tail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748</Words>
  <Application>Microsoft Office PowerPoint</Application>
  <PresentationFormat>On-screen Show (16:9)</PresentationFormat>
  <Paragraphs>123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E-Commerce Sales Performance Analysis</dc:title>
  <dc:subject>PptxGenJS Presentation</dc:subject>
  <dc:creator>Senior Data Analyst</dc:creator>
  <cp:lastModifiedBy>Gogo Harrison</cp:lastModifiedBy>
  <cp:revision>2</cp:revision>
  <dcterms:created xsi:type="dcterms:W3CDTF">2026-03-28T08:12:38Z</dcterms:created>
  <dcterms:modified xsi:type="dcterms:W3CDTF">2026-03-29T12:32:22Z</dcterms:modified>
</cp:coreProperties>
</file>